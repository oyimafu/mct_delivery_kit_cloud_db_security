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IT FUNDAMENTALS  •  5-DAY INSTRUCTOR-LED PROGRAM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Cloud, Database &amp;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Cybersecurity Essentials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32688" y="3840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cloud architecture, database management, and security practices — delivered on Microsoft Azure for a petroleum regulatory environment.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32688" y="4892040"/>
            <a:ext cx="5486400" cy="0"/>
          </a:xfrm>
          <a:prstGeom prst="line">
            <a:avLst/>
          </a:prstGeom>
          <a:noFill/>
          <a:ln w="1905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hours</a:t>
            </a:r>
            <a:pPr indent="0" marL="0">
              <a:buNone/>
            </a:pPr>
            <a:r>
              <a:rPr lang="en-US" sz="15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5 days  •  Hands-on labs + capstone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deck — Microsoft Certified Trainer edition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AT A GLANCE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days, three domains, one integrated skillset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84124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1463040" cy="84124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94560" y="187452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Fundamentals Recap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0" y="2221992"/>
            <a:ext cx="9235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IaaS/PaaS, service selection, deployment patterns, provider comparison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091672" cy="84124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97480"/>
            <a:ext cx="1463040" cy="84124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94560" y="278892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Fundamentals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94560" y="3136392"/>
            <a:ext cx="9235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concepts, normalization, indexing, CRUD SQL, backup basics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91672" cy="84124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611880"/>
            <a:ext cx="1463040" cy="84124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11880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194560" y="370332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Administration &amp; Performance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4560" y="4050792"/>
            <a:ext cx="9235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indexing, execution plans, replication, backup/restore, monitoring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1091672" cy="84124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526280"/>
            <a:ext cx="1463040" cy="841248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26280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194560" y="461772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Cybersecurity Essentials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194560" y="4965192"/>
            <a:ext cx="9235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Threats, encryption, IAM, secure config, patching &amp; vulnerability mgmt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11091672" cy="84124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440680"/>
            <a:ext cx="1463040" cy="841248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440680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194560" y="553212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Lab &amp; Capstone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94560" y="5879592"/>
            <a:ext cx="9235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secure deployment on Azure + architecture, checklist, backup plan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FACILITATOR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run this program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58384" cy="448056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Rhythm of each day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objectives (20 min)</a:t>
            </a:r>
            <a:endParaRPr lang="en-US" sz="14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blocks with live Azure demos</a:t>
            </a:r>
            <a:endParaRPr lang="en-US" sz="14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(the core of the day)</a:t>
            </a:r>
            <a:endParaRPr lang="en-US" sz="14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Check-for-understanding questions</a:t>
            </a:r>
            <a:endParaRPr lang="en-US" sz="14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wrap tying back to the capstone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81928" y="1737360"/>
            <a:ext cx="5358384" cy="448056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01968" y="25146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checklists over theory — every module ends with something usable at the agency</a:t>
            </a:r>
            <a:endParaRPr lang="en-US" sz="14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context — always connect cloud + database + security</a:t>
            </a:r>
            <a:endParaRPr lang="en-US" sz="14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examples throughout: licensing registries, production reporting, fuel distribution</a:t>
            </a:r>
            <a:endParaRPr lang="en-US" sz="14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discipline — free-tier Azure, stop resources daily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Fundamentals Recap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32688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&amp; PaaS models, service selection frameworks, and deployment patterns — grounded in Azure.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0" y="5806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CLOUD SERVICE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IaaS vs PaaS — who manages what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(e.g. Azure Virtual Machines): you manage OS, runtime, patching, database engine; Azure manages the physical infrastructure.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(e.g. Azure App Service, Azure SQL Database): Azure manages OS, patching, high availability and backups; you focus on the app and data.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SaaS: fully managed application (e.g. Microsoft 365) — included only for contrast.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shifts left as you move IaaS → PaaS → SaaS; security accountability never fully leaves the customer.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623560"/>
            <a:ext cx="10789920" cy="64008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650992"/>
            <a:ext cx="10332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lens: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regulator, PaaS (Azure SQL Database) reduces patching burden and audit surface — fewer components the agency must harden and evidence.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0" y="301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CHOOSING SERVICES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decision framework for service selection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58384" cy="448056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Selection criteria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 &amp; workload type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/ sovereignty (region choice)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vs. self-managed effort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DR requirements (RPO/RTO)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 obligations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 (serverless vs provisioned)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81928" y="1737360"/>
            <a:ext cx="5358384" cy="448056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patterns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01968" y="25603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Single-region PaaS web app + managed DB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Zone-redundant for higher availability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networking with Private Endpoints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(on-prem to cloud) during migration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N-tier: App Service → Azure SQL → Key Vault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0" y="301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 — Cloud service selection case study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68580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OBJECTIVE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regulator business brief, recommend Azure services and justify the choice.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10789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'Crude Oil Production Reporting Portal' requirements brief.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decision matrix: compute (IaaS vs PaaS), database service, and region.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Azure region and justify it on data-residency grounds.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simple reference architecture (App Service + Azure SQL Database).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2-minute justification to the group.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5715000"/>
            <a:ext cx="10789920" cy="56692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733288"/>
            <a:ext cx="10332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decision matrix + one-paragraph justification of the recommended architecture.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0" y="301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Fundamentals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32688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concepts, normalization, indexing, and CRUD — on a live Azure SQL Database.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0" y="5806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CORE CONCEPTS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Relational database building blocks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rows, columns; primary keys uniquely identify rows; foreign keys enforce relationships.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(1NF → 3NF) removes redundancy and update anomalies — model the petroleum inventory clean.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speed reads by avoiding full table scans, at a cost to writes and storage.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= Create (INSERT), Read (SELECT), Update (UPDATE), Delete (DELETE).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matter from day one — Azure SQL Database takes automated backups with point-in-time restore.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623560"/>
            <a:ext cx="10789920" cy="64008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650992"/>
            <a:ext cx="10332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lens: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example on a real asset: depots and terminals in Lagos, Port Harcourt, Warri and Kaduna holding valves, pumps, meters and PPE.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0" y="301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 — Build &amp; query a petroleum inventory database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68580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OBJECTIVE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Azure SQL Database, model an inventory schema, and run CRUD operations.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10789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Azure SQL Database using the free offer (Start free at aka.ms/azuresqlhub).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Azure Data Studio (or SSMS).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petroleum_inventory_schema.sql to create tables, keys and indexes.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INSERT / SELECT / UPDATE / DELETE exercises on stock items and movements.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normalization mini-exercise and verify with a JOIN query.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5715000"/>
            <a:ext cx="10789920" cy="56692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733288"/>
            <a:ext cx="10332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query results + the normalization answer.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0" y="301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Administration &amp; Performance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32688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strategy, execution plans, replication, backup/restore, and monitoring.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0" y="5806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PERFORMANCE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Making queries fast — and keeping them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58384" cy="448056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toolkit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execution plans: spot table/clustered index scans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right index (non-clustered, covering, composite)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key lookups and when to include columns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statistics; watch for parameter sniffing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with Query Store &amp; Azure metrics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81928" y="1737360"/>
            <a:ext cx="5358384" cy="448056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Resilience &amp; continuity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01968" y="25603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 + point-in-time restore (PITR)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Geo-restore for regional recovery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geo-replication &amp; failover groups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concepts for read scale-out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RPO / RTO for critical registries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0" y="301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 — Diagnose and fix a slow query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68580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OBJECTIVE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execution plan to find a scan, add an index, and prove the improvement.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10789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day3_performance_lab.sql to build a ~10,000-row table.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slow query with 'Include Actual Execution Plan'.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table/index scan and high cost operator.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recommended index and re-run the query.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before/after plans and logical reads; walk through PITR + geo-replication.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5715000"/>
            <a:ext cx="10789920" cy="56692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733288"/>
            <a:ext cx="10332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execution-plan screenshots + a one-line explanation of the fix.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0" y="301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Cybersecurity Essentials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32688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Threats, encryption, identity, secure configuration, and patching — the regulator's defensive core.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0" y="5806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THREATS &amp; DEFENSES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threats and how we counter them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vectors: phishing/credential theft, SQL injection, misconfiguration, unpatched systems, insider misuse.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rest: Transparent Data Encryption (TDE) is on by default for Azure SQL Database; sensitive columns via Always Encrypted.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transit: enforce TLS 1.2+ for all connections.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access: Microsoft Entra ID, RBAC least privilege, MFA, and Conditional Access.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config, patching &amp; vulnerability management: Defender for Cloud, Update Manager, Azure Policy.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623560"/>
            <a:ext cx="10789920" cy="64008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650992"/>
            <a:ext cx="10332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lens: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 Oct 2026 Microsoft requires MFA for all Azure portal access — align the agency's admin accounts now.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0" y="301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4 — Harden the database &amp; app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685800"/>
          </a:xfrm>
          <a:prstGeom prst="rect">
            <a:avLst/>
          </a:prstGeom>
          <a:solidFill>
            <a:srgbClr val="0C4E5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OBJECTIVE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layered security controls to the Day 2 database and complete a hardening checklist.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10789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TDE is enabled; enforce a minimum TLS version.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access: firewall rules and/or a Private Endpoint; disable public access where possible.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Microsoft Entra authentication and assign least-privilege RBAC roles.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Microsoft Defender for SQL and turn on auditing / diagnostic logs.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day4_security_checklist.md with evidence for each control.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5715000"/>
            <a:ext cx="10789920" cy="566928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733288"/>
            <a:ext cx="10332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security hardening checklist with evidence notes per control.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0" y="301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Lab &amp; Capstone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32688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cloud, database, and security together in one end-to-end secure deployment.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0" y="5806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THE CAPSTONE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a secure, regulator-grade application on Azure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deploy a small Downstream Fuel Distribution Monitoring app with a managed Azure SQL Database.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comprehensive security controls: Entra ID + RBAC, Key Vault, TDE, TLS, network restriction, Defender, auditing.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backup &amp; disaster recovery: automated backups, PITR, geo-replication/failover, with defined RPO/RTO.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within free / low-cost tiers and keep data in an approved region for sovereignty.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623560"/>
            <a:ext cx="10789920" cy="640080"/>
          </a:xfrm>
          <a:prstGeom prst="rect">
            <a:avLst/>
          </a:prstGeom>
          <a:solidFill>
            <a:srgbClr val="EAF1F1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650992"/>
            <a:ext cx="10332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lens:  </a:t>
            </a:r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ties to regulatory duties: data sovereignty, auditability, least privilege, and availability of critical systems.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0" y="301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REQUIRED DELIVERABLES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artifacts + a short oral defense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30175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66160" cy="64008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diagram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resources, database configuration, and clearly marked security boundaries.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70248" y="1828800"/>
            <a:ext cx="3566160" cy="30175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0248" y="1828800"/>
            <a:ext cx="3566160" cy="64008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828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checklist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8848" y="26974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implemented control documented with evidence — the Day 4 checklist, completed.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1856" y="1828800"/>
            <a:ext cx="3566160" cy="301752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56" y="1828800"/>
            <a:ext cx="3566160" cy="64008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456" y="1828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&amp; DR plan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0456" y="26974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RPO/RTO, backup schedule, and step-by-step recovery procedures.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91672" cy="822960"/>
          </a:xfrm>
          <a:prstGeom prst="rect">
            <a:avLst/>
          </a:prstGeom>
          <a:solidFill>
            <a:srgbClr val="13312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749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defense: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presentation explaining the architectural, database, and security decisions — graded against the rubric.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0" y="301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68A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Database &amp; Cybersecurity Essentials  •  Integrated IT Fundamentals Training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0" y="6419088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edition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C68A1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68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PARTICIPANTS LEAVE WITH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IT expertise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across three critical domains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32688" y="356616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understanding of how cloud, database, and security work together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agency-ready checklists they can apply immediately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deploying a secure cloud application with a managed database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9FB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 capstone demonstrating integrated IT operations competency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2026-07-23T14:56:49Z</dcterms:created>
  <dcterms:modified xsi:type="dcterms:W3CDTF">2026-07-23T14:56:49Z</dcterms:modified>
</cp:coreProperties>
</file>