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azure/azure-sql/database/free-offer" TargetMode="External"/><Relationship Id="rId2" Type="http://schemas.openxmlformats.org/officeDocument/2006/relationships/hyperlink" Target="https://learn.microsoft.com/en-us/azure/postgresql/flexible-server/how-to-deploy-on-azure-free-accou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techcommunity.microsoft.com/blog/microsoft-entra-blog/microsoft-entra-id-security-updates-what-organizations-need-to-do-now/4522024" TargetMode="External"/><Relationship Id="rId2" Type="http://schemas.openxmlformats.org/officeDocument/2006/relationships/hyperlink" Target="https://learn.microsoft.com/en-us/entra/identity/conditional-acces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IT FUNDAMENTALS  ·  5-DAY INSTRUCTOR-LED COURSE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Cloud, Database &amp;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Essentials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32688" y="37033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Azure curriculum for a petroleum regulatory environment — cloud architecture, relational databases, and layered security, taught as one integrated skillset.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32688" y="4800600"/>
            <a:ext cx="5669280" cy="0"/>
          </a:xfrm>
          <a:prstGeom prst="line">
            <a:avLst/>
          </a:prstGeom>
          <a:noFill/>
          <a:ln w="1905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</a:t>
            </a:r>
            <a:pPr indent="0" marL="0">
              <a:buNone/>
            </a:pPr>
            <a:r>
              <a:rPr lang="en-US" sz="15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 modules   ·   9 hands-on demos   ·   graded capstone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course deck  ·  Microsoft Certified Trainer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course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 — Cloud Fundamentals Recap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— Database Fundamentals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— Database Administration &amp; Performance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— Cybersecurity Essentials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— Integrated Lab &amp; Capstone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five days fit together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example — a petroleum regulator's asset and reporting system — carries you from cloud choice to a secure, backed-up deployment.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decides WHERE and on WHAT the system runs (cloud service selection).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builds the DATA layer (a normalized inventory database) and queries it.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makes the data layer FAST and RESILIENT (indexing, backups, replication).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makes it SECURE (identity, encryption, network isolation, monitoring).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INTEGRATES all of it into one deployed, defended, recoverable application.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maps to a regulator duty: data sovereignty, auditability, least privilege, and availability of critical national systems.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outcomes mapped to modules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291840"/>
                <a:gridCol w="23134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outcome (brochure)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delivered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 cloud &amp; RDBMS fundamentals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matrix, Day 2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schemas &amp; do admin (backup/recovery)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2–3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index, PITR labs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threats &amp; apply mitigations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cloud + DB + security end to 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+ oral defense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labs are not throwaway exercises — each produces an artifact the learner reuses in the Day 5 capstone.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SETUP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Azure environment you will use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0624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/ cost 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database (all labs)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 — free offer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free serverless DBs; 100k vCore-sec/mo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DB track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Database for PostgreSQL Flexible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B1MS hrs/mo free (12 months)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tier (capstone)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 (PaaS)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with Azure VMs (IaaS)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MFA, Conditional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&amp;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secrets in code or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protection &amp;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Defender for SQL + Auditing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+ evidence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61447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SQL free offer</a:t>
            </a:r>
            <a:pPr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 free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Fundamentals Recap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and PaaS, service-selection frameworks, and deployment patterns — grounded in Azure.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shared responsibility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 vs PaaS vs SaaS — who manages what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service-selection decision framework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deployment patterns on Azure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cloud service selection case study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shared responsibility model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the cloud shifts operational burden to Microsoft — but never removes the customer's accountability for data, identity, and configuration.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always secures the physical datacentre, hardware, and hypervisor.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 IaaS → PaaS → SaaS, more of the stack (OS, patching, runtime) shifts to Microsoft.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identity, and access configuration ALWAYS remain the customer's job.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— not provider failure — is the leading cause of cloud incidents.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regulator, PaaS shrinks the audit surface: fewer components the agency must patch and evidence.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COMPARE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 vs PaaS — who manages what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358384" cy="62179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  ·  Azure Virtual Machines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OS, patching, runtime, DB engine, backups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manages: compute, storage, network, hypervisor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control, most operational effort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lift-and-shift, legacy apps, custom stacks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cost: more staff time for patching &amp; hardening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691640"/>
            <a:ext cx="5358384" cy="621792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PaaS  ·  Azure SQL Database / App Service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74536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your app, your data, access policy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manages: OS, patching, HA, automated backups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control, far less operational effort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new apps, managed databases, faster delivery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benefit: built-in HA, backups, and compliance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FRAMEWORK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repeatable service-selection framework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251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to 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regulator 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we need OS-level control?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→ PaaS (App Service / Azure 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must the data legally reside?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approved region for data sovereignty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downtime is tolerable?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Zone-redundant for critical registries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RPO / RTO do we need?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RPO via PITR + geo-replication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or bursty workload?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for bursty lab / low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compliance applies?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NDPR/NDPA, least privilege, auditing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PATTERNS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deployment patterns on Azure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Single-region PaaS web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→ Azure SQL → Key Vault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internal regulator portals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Zone-redundant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spread across availability zones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of critical systems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Hub-and-spoke + Private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network, no public DB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data, strict network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(migration)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↔ Azure during transition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migration projects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(single-region N-tier) and add zone redundancy / private networking as the risk assessment demands.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cloud service selection case study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52628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2286000" cy="182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regulator business brief, recommend Azure services and justify each choice.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'Crude Oil Production Reporting Portal' requirements brief.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decision matrix: compute (IaaS vs PaaS), database service, and region.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region choice on data-residency / sovereignty grounds.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reference architecture: App Service → Azure SQL Database → Key Vault.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recommendation in a 2-minute pitch to the group.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5623560"/>
            <a:ext cx="802843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62356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 </a:t>
            </a:r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decision matrix + a one-paragraph, defensible architecture justification.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PaaS, who is responsible for patching the database engine?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(Azure) — but the customer still owns access control and data classification.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region choice matter for a regulator before anything else?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/ sovereignty — regulated data may be legally required to stay in-country.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188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reason to prefer zone-redundant deployment.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availability for critical systems — survives a single datacentre/zone failure.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model shifts effort to Azure but never removes customer accountability.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= control + effort; PaaS = speed + built-in HA/backups. Regulators usually favour PaaS.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consistent framework: compute, region, availability, recovery, cost, security.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simplest deployment pattern that meets the risk assessment — then harden.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Fundamentals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concepts, normalization, indexing basics, and CRUD — on a live Azure SQL Database.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building blocks (tables, keys)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Normalization: 1NF → 3NF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fundamentals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petroleum inventory schema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create Azure SQL DB &amp; deploy schema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17320" y="558698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CRUD operations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building blocks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stores data in tables of rows and columns, and uses keys to keep those tables consistent and connected.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(PK): uniquely identifies each row — e.g. FacilityID, StockItemID.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(FK): a column that references another table's PK, enforcing valid relationships.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(UNIQUE, CHECK, NOT NULL) push data-quality rules into the database itself.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guarantees integrity so applications don't have to re-implement it everywhere.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schema models real regulator assets: depots/terminals holding valves, pumps, meters, PPE and spares.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 — removing redundancy step by step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852160"/>
                <a:gridCol w="37764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(plain language)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values; no repeating groups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Comma-lists, multi-value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dependency on part of a composite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Duplicated data tied to one key 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column depends on a non-key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phone repeated on every movement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protect data quality; selectively denormalize later only for proven read-performance needs.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fundamentals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like the index at the back of a book — it lets the engine jump straight to matching rows instead of scanning every page.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 = the physical order of the table (usually the primary key).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Non-clustered index = a separate sorted structure pointing back to rows.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up reads (SELECT/JOIN/WHERE) but add a small cost to writes and storage.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columns you filter and join on — not every column.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Production-reporting queries filtering by facility or date are exactly what a well-chosen index accelerates.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WALKTHROUGH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petroleum inventory schema (5 tables, 3NF)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relationships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Depots / terminals / field offices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FacilityID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vendors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SupplierID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Regulator-owned monitored assets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Facilities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of spares / PPE (item master)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StockMovements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of receipts / issues / transfers (fact)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StockItems, Facilities, 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Quantity-on-hand is DERIVED from StockMovements — never stored redundantly. That's 3NF in action.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create the database &amp; deploy the schema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52628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2286000" cy="182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free Azure SQL Database and deploy the normalized inventory schema.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aka.ms/azuresqlhub and choose Start free.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Basics: resource group rg-&lt;initials&gt;-course, DB name PetroleumInventoryDB, new server.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General Purpose — Serverless (confirm the free-offer banner).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add your current client IP; connect with Azure Data Studio.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run petroleum_inventory_schema.sql (5 tables, 2 indexes, ~74 seed rows).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the COUNT sanity checks (10 / 8 / 14 / 12 / 30).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5623560"/>
            <a:ext cx="802843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62356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 </a:t>
            </a:r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visible in Azure Data Studio with the free-offer usage badge in the portal.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— Read: current stock on hand at Warri depot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the movement ledger to derive quantity on hand (never stored directly):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2743200"/>
          </a:xfrm>
          <a:prstGeom prst="rect">
            <a:avLst/>
          </a:prstGeom>
          <a:solidFill>
            <a:srgbClr val="0E25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21408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si.SKU, si.ItemName, SUM(sm.Quantity) AS QtyOnHand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dbo.StockMovements sm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dbo.StockItems si  ON si.StockItemID = sm.StockItemID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dbo.Facilities  f  ON f.FacilityID   = sm.FacilityID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f.FacilityCode = 'FAC-WAR-01'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si.SKU, si.ItemName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si.SKU;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rows are positive, ISSUE rows negative — SUM gives net on-hand.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ledger design (3NF) keeps the data honest and auditable.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responsibly in a regulated environment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regulator, deleting transactional history is rarely acceptable — auditors expect a complete, tamper-evident trail.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an ADJUSTMENT movement over deleting a historical row.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hard DELETE for genuine data-entry errors, and log who did it and why.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already models ADJUSTMENT as a movement type for exactly this reason.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audit trade-off with learners — it foreshadows Day 4's auditing controls.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is a compliance requirement, not a nice-to-have — this habit starts on Day 2.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problem does 3NF fix in the flat StockMovementFlat table?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Update/insertion anomalies — e.g. a supplier's phone repeated on every movement row.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QtyOnHand not stored as a column?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derivable from the movement ledger; storing it would risk it drifting out of sync (redundancy).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188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an index hurt rather than help?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write-heavy columns you rarely filter on — it adds write cost with little read benefit.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constraints let the database enforce integrity for you.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3NF to eliminate redundancy and anomalies; denormalize only with evidence.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turn scans into seeks — index what you filter and join on.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data, prefer adjustments over deletes to preserve the audit trail.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Administration &amp; Performance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plans, indexing strategy, backups, point-in-time restore, and replication.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 query execution plan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vs seek — the core performance idea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Designing the right index (covering/composite)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Backups &amp; point-in-time restore (PITR)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Replication, geo-restore &amp; failover groups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17320" y="558698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diagnose and fix a slow query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 query execution plan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plan is the engine's step-by-step recipe for a query — it tells you exactly where the time goes.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'Include Actual Execution Plan' in Azure Data Studio / SSMS, then run the query.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operator shows a relative cost (%) — hunt for the highest-cost one.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arrows = many rows flowing; thin arrows = few. Fat arrows early are a warning.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 operator to see its Predicate (the WHERE clause it is evaluating).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vs seek — the idea that unlocks performance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358384" cy="62179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/ Index SCAN  (slow)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row and tests the WHERE clause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table size — 12,000 rows, 12,000 reads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as 'Clustered Index Scan' at ~100% cost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query slows as data grows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691640"/>
            <a:ext cx="5358384" cy="621792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SEEK  (fast)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74536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DIRECTLY to matching rows via an index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stays low as the table grows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index on the filtered column(s)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create the right non-clustered index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Designing the right index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covering, composite index for a facility + risk + date query: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2743200"/>
          </a:xfrm>
          <a:prstGeom prst="rect">
            <a:avLst/>
          </a:prstGeom>
          <a:solidFill>
            <a:srgbClr val="0E25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21408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NONCLUSTERED INDEX IX_InspectionEvents_Facility_Risk_Date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dbo.InspectionEvents (FacilityCode, RiskLevel, EventDate)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(InspectorName, FindingSummary);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(FacilityCode, RiskLevel, EventDate) support the WHERE and ORDER BY.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carries the SELECT-list columns so the query is 'covered' — no key lookups.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plan flips from a Clustered Index Scan to an Index Seek.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Backups, recovery, and continuity on Azure SQL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backups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managed by Azure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manual backup jobs to miss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restore (PITR)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to any second in the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bad data change / ransomware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Geo-restore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from geo-redundant backup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 from a regional outage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geo-replication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secondary in another 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scale-out + 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groups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Automatic/managed failover of the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of critical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RPO (how much data you can lose) and RTO (how fast you must recover) BEFORE you pick these.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diagnose and fix a slow query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52628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2286000" cy="182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execution plan to find a scan, add an index, and prove the improvement.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day3_performance_lab.sql to build a ~12,000-row InspectionEvents table.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Actual Execution Plan; run the facility filter query.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Clustered Index Scan at ~100% cost (the bottleneck).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IX_InspectionEvents_Facility_Risk_Date (covering index).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Re-run; confirm the plan now shows an Index Seek and fewer logical reads.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walk through a PITR restore and a geo-replication setup.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5623560"/>
            <a:ext cx="802843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62356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 </a:t>
            </a:r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plans: Scan → Seek, with a visible drop in logical reads.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operator in a plan usually signals a performance problem on a big table?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Clustered/Table Index Scan at high cost — it reads every row.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difference between RPO and RTO?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= acceptable data loss (time); RTO = acceptable time to recover service.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188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add INCLUDE columns to an index?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'cover' the query so it needs no key lookups back to the table — faster reads.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plan shows exactly where a query spends its time.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scan into a seek — via the right index — is the highest-leverage fix.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Covering/composite indexes eliminate key lookups for common query shapes.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gives you PITR, geo-restore, geo-replication and failover — driven by RPO/RTO.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Essentials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encryption, identity, secure configuration, and patching — the regulator's defensive core.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Threats &amp; attack vectors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at rest (TDE) &amp; in transit (TLS)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access: Entra ID, RBAC, MFA, CA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configuration &amp; network isolation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Patching &amp; vulnerability management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532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17320" y="558698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harden the database &amp; app stack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threats and how we counter them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Azure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theft / phishing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 or reused passwords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Conditional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Untrusted input in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Parameterised queries + Defender for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endpoints, over-broad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 + Defender for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CVEs left 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 auto-patching + Update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/ excess privilege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Too-broad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least privilege + auditing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— at rest and in transit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358384" cy="62179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rest  ·  data on disk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Data Encryption (TDE) is ON by default for Azure SQL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files, backups and logs if media is stolen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Encrypted protects specific sensitive columns even from admins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can be managed in Azure Key Vault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1691640"/>
            <a:ext cx="5358384" cy="45262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691640"/>
            <a:ext cx="5358384" cy="621792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transit  ·  data on the wire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74536" y="2487168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 minimum TLS version (1.2+) on the SQL server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 connections then use encrypted channels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eavesdropping on data moving between app and DB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older, weak protocol versions outright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access — the new perimeter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cloud, identity is the primary security boundary — get least privilege and strong authentication right and most attacks fail at the door.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authenticates users and services centrally.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grants the least privilege needed — not blanket Owner/Admin.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stops the majority of credential-based attacks.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enforces context rules (location, device, risk) at sign-in.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 Oct 2026 Microsoft requires MFA for all Azure portal access — align the agency's admin accounts now.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61447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Entra MFA mandate</a:t>
            </a:r>
            <a:pPr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Conditional Access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configuration &amp; network isolation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764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firewall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only known client 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open public 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reachable only on a private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internet path to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public network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off the public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network posture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Enforces config rules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drift &amp; bad defaults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depth: identity + encryption + network isolation + monitoring — no single control is enough.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DEMO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harden the database &amp; app stack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52628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2286000" cy="182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layered security controls to the Day 2 database and complete the hardening checklist.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TDE is enabled; set a minimum TLS version on the SQL server.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access: tighten firewall rules and/or add a Private Endpoint.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Microsoft Entra authentication; assign least-privilege RBAC roles.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Microsoft Defender for SQL for threat alerts.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Auditing / diagnostic logs and confirm events are captured.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day4_security_checklist.md with evidence for each control.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5623560"/>
            <a:ext cx="802843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62356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 </a:t>
            </a:r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24-control checklist with evidence — the capstone's security artifact, started here.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TDE something you must switch on for a new Azure SQL Database?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 by default — verify it and document it; add Always Encrypted for sensitive columns.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identity called 'the new perimeter'?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 there's no network wall — strong auth + least privilege is the primary boundary.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502920" cy="132588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1888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two controls that reduce network exposure of the database.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6752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limited to known IPs, and a Private Endpoint (or disabling public access).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incidents are misconfiguration and credential theft — controls target exactly those.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at rest (TDE / Always Encrypted) and in transit (enforce TLS 1.2+).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perimeter: Entra ID + least-privilege RBAC + MFA + Conditional Access.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network isolation and turn on Defender + auditing for detection and evidence.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Lab &amp; Capstone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cloud, database, and security together in one end-to-end secure deployment.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4160" y="5669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capstone scenario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required deliverables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the solution to Azure services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2826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day's timeline &amp; submission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0325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91672" cy="65836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4837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oral defense &amp; how it's graded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7823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BRIEF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capstone scenario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small but real regulator application — Downstream Fuel Distribution Monitoring — to Azure, with a managed database and comprehensive security.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 app (Azure App Service) backed by an Azure SQL Database.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security controls applied end to end (the Module 4 checklist).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disaster-recovery configured with defined RPO/RTO.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within free/low-cost tiers and an approved region for sovereignty.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mirrors a live regulatory duty: monitor fuel distribution with auditable, available, protected data.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DELIVERABLES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required deliverables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31089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566160" cy="6858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resources, database configuration, and clearly marked security boundaries.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1828800"/>
            <a:ext cx="3566160" cy="31089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1828800"/>
            <a:ext cx="3566160" cy="6858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828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checklist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implemented control documented with evidence (the Day 4 checklist, completed).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1828800"/>
            <a:ext cx="3566160" cy="31089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91856" y="1828800"/>
            <a:ext cx="3566160" cy="6858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1828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DR plan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0456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RPO/RTO table, backup schedule, and step-by-step recovery procedures.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oral defense: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presentation explaining the architectural, database, and security decisions.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MAPPING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the solution to Azure services</a:t>
            </a:r>
            <a:endParaRPr lang="en-US" sz="27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 back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 (PaaS)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 (free offer)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&amp;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 + PITR + geo-replication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+ least-privilege RBAC + MFA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&amp; 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+ TDE + TLS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&amp;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SQL + Auditing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is deliberately an assembly of the four prior modules — nothing new, everything integrated.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ASSESSMENT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capstone is graded (100 points)</a:t>
            </a:r>
            <a:endParaRPr lang="en-US" sz="27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57881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diagram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services + clear security boundaries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coverage with real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&amp; DR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RPO/RTO + tested recovery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defense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Clear, correct rationale under questioning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 is 70 points with per-section minimums — see Capstone_Grading_Rubric.md.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integrates all four modules into one deployed, secure, recoverable app.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artifacts: architecture diagram, completed security checklist, backup &amp; DR plan.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maps to an Azure service the learner already used in a lab.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oral defense tests whether learners can justify their decisions, not just build.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37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·  Integrated IT Fundamentals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PARTICIPANTS LEAVE WITH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IT expertise across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critical domains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32688" y="338328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understanding of how cloud, database and security work together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agency-ready checklists they can apply immediately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deploying a secure cloud app with a managed database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capstone demonstrating integrated IT operations competency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2026-07-23T15:51:58Z</dcterms:created>
  <dcterms:modified xsi:type="dcterms:W3CDTF">2026-07-23T15:51:58Z</dcterms:modified>
</cp:coreProperties>
</file>