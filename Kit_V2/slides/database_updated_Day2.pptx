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89" r:id="rId25"/>
    <p:sldId id="290" r:id="rId26"/>
    <p:sldId id="272" r:id="rId4"/>
    <p:sldId id="281" r:id="rId17"/>
    <p:sldId id="282" r:id="rId18"/>
    <p:sldId id="291" r:id="rId27"/>
    <p:sldId id="285" r:id="rId21"/>
    <p:sldId id="286" r:id="rId22"/>
    <p:sldId id="287" r:id="rId23"/>
    <p:sldId id="288" r:id="rId24"/>
    <p:sldId id="273" r:id="rId5"/>
    <p:sldId id="274" r:id="rId6"/>
    <p:sldId id="275" r:id="rId7"/>
    <p:sldId id="277" r:id="rId8"/>
    <p:sldId id="283" r:id="rId19"/>
    <p:sldId id="284" r:id="rId20"/>
    <p:sldId id="278" r:id="rId9"/>
    <p:sldId id="279" r:id="rId10"/>
    <p:sldId id="280" r:id="rId11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3F720-6B28-411A-AB17-33B3356D151C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4866A-719E-4F95-8FFB-55F549BF83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24562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9D00D-3C73-3962-D54B-53D5B3411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A2E1E-A7F0-921E-4115-E58FBA53D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0C490-6FCB-B3AD-C2FD-F3FAA703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579-FB1E-4571-931A-0A88D81ACC78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F773F-A299-AB60-9F40-E1FCCDAE0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AA1D-6524-2C4C-8DE4-980B7AB7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B9960-8E02-40B4-92EA-FBFF9718B0E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6048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8DED3-9174-8C0D-F330-27FFC3AB1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A0E15-F6A0-D4E6-5759-79B76E7B1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2A745-14C0-8BBB-ADA4-FA08700D7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579-FB1E-4571-931A-0A88D81ACC78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622A3-3DE3-1586-5187-7E33C907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492EF-3A6D-F0BD-3D02-6F6FA00A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B9960-8E02-40B4-92EA-FBFF9718B0E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52655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E5C8-0845-5445-A476-FDCB27A9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BC587-C021-09C0-B243-571431E8C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0F156-C15C-E183-FDEB-E3BAA0B91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579-FB1E-4571-931A-0A88D81ACC78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50DCF-1F43-AD26-4DD4-A2F5C800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39116-8E8D-01D9-605D-966107A6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B9960-8E02-40B4-92EA-FBFF9718B0E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2372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4354-4BD7-7DAD-26DA-385CD1B7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482A9-FF07-0DB3-319C-F68BA2537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6B37C-1B52-7541-4547-D97B20904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C498F-B12F-E8E6-4AE8-049718FAD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579-FB1E-4571-931A-0A88D81ACC78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8088E-17F6-249E-E3E9-55CA1994D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A0B57-A3E7-9DB4-A7D7-D96CB331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B9960-8E02-40B4-92EA-FBFF9718B0E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96530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A9E8-9DF7-3B90-E409-612908AD7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8B790-C1DF-B5DE-030B-219F76C2F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B9164-C686-3EE1-A880-BCBB331F6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0D5A38-4CF2-E6FB-D95D-A2876B369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88023D-C76E-1509-2380-CD3ABA5A9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96FDE2-B795-C799-419A-E26525B97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579-FB1E-4571-931A-0A88D81ACC78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5A6C27-D0D4-B3E1-3443-CF9F0DCE5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0C4AA-9E72-414F-AC0E-801D80C6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B9960-8E02-40B4-92EA-FBFF9718B0E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3667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F065-1263-CE0C-BD67-39CC4A34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760CF-B034-36E8-983B-7D222FBE6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579-FB1E-4571-931A-0A88D81ACC78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6CEA37-2CF2-FD7F-8A2F-327B453D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4829D-DC15-4A61-353A-5C488AC4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B9960-8E02-40B4-92EA-FBFF9718B0E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21965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A162FE-EADE-05AD-C175-9646241A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579-FB1E-4571-931A-0A88D81ACC78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0E956-564E-0950-421C-BACD8E4F6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487D0-CB15-72F0-9017-3FCCB2A99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B9960-8E02-40B4-92EA-FBFF9718B0E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03040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EE3D-3C97-5804-D5D8-AAF944A51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6885E-DC90-4F6C-92EC-3EBAF1626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422AA-D56A-A2B5-AB49-3AD2F62DF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0BCFE-62C7-8084-8D81-B5D8CB2F9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579-FB1E-4571-931A-0A88D81ACC78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B2B16-33F8-7EF8-550A-52E4E3FF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17539-F6E5-6381-6FDE-8A34D2EA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B9960-8E02-40B4-92EA-FBFF9718B0E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9838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8E0B-1D4E-E55F-292F-AA2E4CE93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60E337-5174-2640-352D-E12FBBD0F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C0597-2140-D939-02BB-C4937A306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6AD3A-E712-86E8-FBBC-C10A94F1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579-FB1E-4571-931A-0A88D81ACC78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916A7-C47F-C3A9-BC85-5A78C5A1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8AB50-40D2-C205-0A68-FC781E321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B9960-8E02-40B4-92EA-FBFF9718B0E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7641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1C599-D1C6-D23A-3BFC-3087EE60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81D4C-E71E-3CB1-BB18-C6AA07C40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7AE47-FB20-F439-628A-9400BA58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579-FB1E-4571-931A-0A88D81ACC78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86DE9-A5F4-539D-4792-C1B470C69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152FA-ACF5-5A17-D6BD-9E189307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B9960-8E02-40B4-92EA-FBFF9718B0E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1518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2D1CC9-22CB-39D3-1771-53F0E7521B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A72B9-3419-71AE-072C-7C9E1E937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67289-1F20-3C45-283D-29566428D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579-FB1E-4571-931A-0A88D81ACC78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E78B3-41E8-06A5-42FC-75601AD79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AF91E-E64F-B9DC-61A9-499C18EE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B9960-8E02-40B4-92EA-FBFF9718B0E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56762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43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0EEC5-8F87-DFF6-8F78-C7BC36883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D9D19-7E5F-C676-7AAB-193C7CCD0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9A44A-89F1-72B2-88FD-0E51A84AAB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01579-FB1E-4571-931A-0A88D81ACC78}" type="datetimeFigureOut">
              <a:rPr lang="en-NG" smtClean="0"/>
              <a:t>27/07/2026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1A37D-CDD6-07DA-A923-EED231BFE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6AA7C-1A7A-1699-3D00-04F4DC140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B9960-8E02-40B4-92EA-FBFF9718B0E2}" type="slidenum">
              <a:rPr lang="en-NG" smtClean="0"/>
              <a:t>‹#›</a:t>
            </a:fld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404F16-9DEC-7111-520F-79BB42ABA12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22963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G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140107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0" name="Background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01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3312F">
                  <a:alpha val="82000"/>
                </a:srgbClr>
              </a:gs>
              <a:gs pos="60000">
                <a:srgbClr val="13312F">
                  <a:alpha val="68000"/>
                </a:srgbClr>
              </a:gs>
              <a:gs pos="100000">
                <a:srgbClr val="13312F">
                  <a:alpha val="5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NG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Fundamentals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32688" y="37947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concepts, normalization, indexing basics, and CRUD — on a live Azure SQL Database.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424160" y="5669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this module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83794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table fundamentals (what a DB is, tables, keys, relationships, data types, SQL command types)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0" y="17830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58775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Normalization: 1NF → 3NF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3375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Indexing fundamentals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0" y="32826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408736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walkthroughs — petroleum inventory &amp; e-commerce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0" y="40325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82312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483717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create Azure SQL DB &amp; deploy schema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0" y="47823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Shape 30"/>
          <p:cNvSpPr/>
          <p:nvPr/>
        </p:nvSpPr>
        <p:spPr>
          <a:xfrm>
            <a:off x="548640" y="5532120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548640" y="5532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17320" y="558698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CRUD operations (petroleum &amp; e-commerce)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0" y="55321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Relational building blocks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stores data in tables of rows and columns, and uses keys to keep those tables consistent and connected.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(PK): uniquely identifies each row — e.g. FacilityID, StockItemID.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(FK): a column that references another table's PK, enforcing valid relationships.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(UNIQUE, CHECK, NOT NULL) push data-quality rules into the database itself.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guarantees integrity so applications don't have to re-implement it everywhere.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schema models real regulator assets: depots/terminals holding valves, pumps, meters, PPE and spares.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Normalization — removing redundancy step by step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1737360"/>
          <a:ext cx="11091672" cy="15361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(plain language)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1NF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values; no repeating groups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Comma-lists, multi-value cells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partial dependency on part of a composite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Duplicated data tied to one key part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column depends on a non-key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phone repeated on every movement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to protect data quality; selectively denormalize later only for proven read-performance needs.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Indexing fundamentals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is like the index at the back of a book — it lets the engine jump straight to matching rows instead of scanning every page.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index = the physical order of the table (usually the primary key).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Non-clustered index = a separate sorted structure pointing back to rows.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speed up reads (SELECT/JOIN/WHERE) but add a small cost to writes and storage.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the columns you filter and join on — not every column.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Production-reporting queries filtering by facility or date are exactly what a well-chosen index accelerates.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WALKTHROUGH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petroleum inventory schema (5 tables, 3NF)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48640" y="1737360"/>
          <a:ext cx="11091672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relationships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Depots / terminals / field offices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FacilityID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vendors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SupplierID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Regulator-owned monitored assets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Facilities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of spares / PPE (item master)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Suppliers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StockMovements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of receipts / issues / transfers (fact)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StockItems, Facilities, Equipment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Quantity-on-hand is DERIVED from StockMovements — never stored redundantly. That's 3NF in action.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DEMO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CRUD — Read: current stock on hand at Warri depot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the movement ledger to derive quantity on hand (never stored directly):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1672" cy="2743200"/>
          </a:xfrm>
          <a:prstGeom prst="rect">
            <a:avLst/>
          </a:prstGeom>
          <a:solidFill>
            <a:srgbClr val="0E252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777240" y="2121408"/>
            <a:ext cx="10607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si.SKU, si.ItemName, SUM(sm.Quantity) AS QtyOnHand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dbo.StockMovements sm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dbo.StockItems si  ON si.StockItemID = sm.StockItemID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dbo.Facilities  f  ON f.FacilityID   = sm.FacilityID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f.FacilityCode = 'FAC-WAR-01'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si.SKU, si.ItemName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si.SKU;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rows are positive, ISSUE rows negative — SUM gives net on-hand.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ledger design (3NF) keeps the data honest and auditable.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responsibly in a regulated environment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regulator, deleting transactional history is rarely acceptable — auditors expect a complete, tamper-evident trail.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an ADJUSTMENT movement over deleting a historical row.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hard DELETE for genuine data-entry errors, and log who did it and why.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already models ADJUSTMENT as a movement type for exactly this reason.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audit trade-off with learners — it foreshadows Day 4's auditing controls.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is a compliance requirement, not a nice-to-have — this habit starts on Day 2.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REVIEW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check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89280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problem does 3NF fix in the flat StockMovementFlat table?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44144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Update/insertion anomalies — e.g. a supplier's phone repeated on every movement row.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35584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QtyOnHand not stored as a column?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90448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derivable from the movement ledger; storing it would risk it drifting out of sync (redundancy).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81888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does an index hurt rather than help?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536752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write-heavy columns you rarely filter on — it adds write cost with little read benefit.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SUMMARY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 — key takeaways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660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6600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constraints let the database enforce integrity for you.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to 3NF to eliminate redundancy and anomalies; denormalize only with evidence.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turn scans into seeks — index what you filter and join on.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regulated data, prefer adjustments over deletes to preserve the audit trail.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820" name="Takeaway Image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7650000" y="2194560"/>
            <a:ext cx="4000000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relationship types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1737360"/>
          <a:ext cx="11091672" cy="15361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in Table A relates to many rows in Table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department has many units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Many-to-Many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rows in A relate to many rows in B — needs a bridge 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and Orders, via order_items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row in A matches exactly one row in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order and its payment record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schemas are One-to-Many. Many-to-Many always needs a bridge table with two foreign keys — like order_items joining orders and products.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key vs foreign key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1737360"/>
          <a:ext cx="11091672" cy="268833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 (PK)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(FK)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Uniquely identifies each row in its own 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to another table's primary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unique — no duplicates allowed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repeat many times across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it be NULL?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— a PK column cannot be empty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if the relationship is optional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per table?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per 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table can have several foreign keys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every row its own identity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Enforces that a relationship is valid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 in 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 in orders, referencing 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PK identifies its own row. An FK points to another table's PK. That one distinction is the whole relational model.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WALKTHROUGH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e-commerce demo schema (12 tables, 3NF)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48640" y="1737360"/>
          <a:ext cx="11091672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relationships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Customers, Addresses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buying, and where things ship/bill 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customer_id; addresses FK → 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Categories, Products, Warehouses, Inventory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catalog and physical stock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FK → categories; inventory FK → products, warehouses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Orders, Order_Items, Payments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bought, and whether it was paid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 FK → orders, products; payments FK → orders (1:1)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Carriers, Shipments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order physically moves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shipments FK → orders (1:1), carriers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feedback on products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products, 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 and inventory are bridge tables — they're what turn a many-to-many relationship into two clean one-to-many relationships.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DEMO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CRUD — Read: the full order picture (e-commerce demo)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across 7 tables to reconstruct one order — customer, product, payment, and shipment: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1672" cy="2743200"/>
          </a:xfrm>
          <a:prstGeom prst="rect">
            <a:avLst/>
          </a:prstGeom>
          <a:solidFill>
            <a:srgbClr val="0E252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777240" y="2121408"/>
            <a:ext cx="10607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c.first_name, p.product_name, oi.quantity, pay.payment_status, s.tracking_number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orders 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customers c    ON o.customer_id = c.customer_id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order_items oi ON oi.order_id   = o.order_id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products p     ON p.product_id  = oi.product_id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payments pay   ON pay.order_id  = o.order_id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shipments s    ON s.order_id    = o.order_id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JOIN follows one foreign key back to its primary key — that’s the whole pattern, repeated.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order was split into 8 tables: each piece lives in its own place, and the JOIN reassembles it on demand.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 data types — where students get confused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1737360"/>
          <a:ext cx="11091672" cy="230428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Fixed-length text, always pads to n characters with spaces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— fixed-length codes, e.g. a 2-letter country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Variable-length text, up to n characters, ASCII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Names, emails — when non-English characters are never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VARCHAR but Unicode — every language’s characters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safe default for almost all text in modern 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NVARCHAR(MAX)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above but no length limit (up to ~2GB)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descriptions, review comments, long-form 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Old, legacy large-text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Deprecated — never use; NVARCHAR(MAX) replaced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NVARCHAR for text, sized realistically. Only reach for CHAR when every value truly is the same fixed length.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 data types — precision matters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1737360"/>
          <a:ext cx="11091672" cy="307238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/ 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255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status code, a small enum-like value, an 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~-32,000 to 32,000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quantities, small counts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~-2.1B to 2.1B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default choice for IDs, quantities, counts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Enormous range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 systems — millions/billions of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DECIMAL(p,s)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precision, no rounding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use for money — e.g. DECIMAL(10,2)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/ REAL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 — tiny rounding errors possible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Scientific/statistical data — never for currency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Server’s built-in currency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Works, but DECIMAL(19,4) is usually preferred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FLOAT for price? 0.1 + 0.2 can come out slightly wrong. DECIMAL is exact — that’s why unit_price is DECIMAL(10,2) in the e-commerce schema.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Date/time and other essential data types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1737360"/>
          <a:ext cx="11091672" cy="268833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/ 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the date (2026-07-27)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Birthdate, order date if time doesn’t matter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the time (14:32:00)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opening hours, a duration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+ time, older type, less precise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 for most teaching purposes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+ time, newer, more precise, wider range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over DATETIME in modern SQL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— 0 / 1 / NULL (true/false)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is_active BIT DEFAULT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GUID instead of an auto-incrementing number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 that must be unique across multiple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DATETIME2 is the modern choice over DATETIME — more precision, wider date range, same idea.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REFERENCE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SQL Server admin commands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1737360"/>
          <a:ext cx="11091672" cy="34564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TABLE products (...);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new table’s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... ADD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products ADD discount DECIMAL(5,2);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new column to an existing 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... ALTER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products ALTER COLUMN sku NVARCHAR(60);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 column’s data type or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TABLE products;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Permanently delete a table and all its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 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 TABLE staging_import;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all rows fast, keep the table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INTO products (...) VALUES (...);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— add new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... WHERE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products SET unit_price = 19.99 WHERE product_id = 1;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— change existing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FROM ... WHERE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FROM products WHERE product_id = 1;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— remove existing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changes structure, UPDATE changes data — a common mix-up for beginners. Always run a SELECT with the same WHERE before UPDATE or DELETE.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database?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an organized, digital collection of data that a computer can search, sort, and update quickly and reliably.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smarter version of an Excel workbook — built to handle millions of rows, many users at once, and strict rules about what data is allowed in.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RDBMS (Relational Database Management System) is the software that stores and manages that data — SQL Server, MySQL, PostgreSQL, and Oracle are all examples.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tables, and tables relate to each other through keys — that’s the “relational” part.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module — from a petroleum inventory system to an e-commerce store — runs on these same core ideas.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 example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you’ve ever built a spreadsheet with a “Customers” tab and an “Orders” tab and linked them by Customer ID, you’ve already used the relational idea — a database just does it at scale, safely.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table — rows, columns, and fields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looks exactly like a spreadsheet — the difference is the database enforces rules on it that Excel never will.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(field): one category of data — e.g. product_name, unit_price. Every value in a column must be the same data type.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(record): one complete entry — e.g. one specific product, one specific customer, one specific order.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Cell: a single value at the intersection of one row and one column.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column: a special column that must be unique per row — it’s how the database tells rows apart, even if every other column matches.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 example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products table from the e-commerce demo, each row is one product, each column is one attribute of it (name, price, stock), and product_id is the primary key that makes every row uniquely identifiable.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SQL commands — DDL, DML, DQL, DCL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1737360"/>
          <a:ext cx="11091672" cy="230428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 — Data Definition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or changes the structure of tables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ALTER, DROP, TRUNCATE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 — Data Manipulation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the data inside tables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INSERT, UPDATE, DELETE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DQL — Data 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data without changing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DCL — Data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who can access or change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GRANT, REVOKE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TCL — Transaction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changes so they succeed or fail together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TRAN, COMMIT, ROLLBACK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admin commands slide fits into these categories — DDL changes structure, DML changes data. Mixing them up is the most common beginner confusion.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810" name="Topic Icon"/>
          <p:cNvSpPr/>
          <p:nvPr/>
        </p:nvSpPr>
        <p:spPr>
          <a:xfrm>
            <a:off x="11210000" y="410000"/>
            <a:ext cx="430000" cy="560000"/>
          </a:xfrm>
          <a:prstGeom prst="can">
            <a:avLst/>
          </a:prstGeom>
          <a:noFill/>
          <a:ln w="22225" cap="rnd">
            <a:solidFill>
              <a:srgbClr val="C68A19"/>
            </a:solidFill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968</Words>
  <Application>Microsoft Office PowerPoint</Application>
  <PresentationFormat>Widescreen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Oyimafu Joshua Emmanuel</dc:creator>
  <cp:lastModifiedBy>Oyimafu Joshua Emmanuel</cp:lastModifiedBy>
  <cp:revision>1</cp:revision>
  <dcterms:created xsi:type="dcterms:W3CDTF">2026-07-27T19:50:46Z</dcterms:created>
  <dcterms:modified xsi:type="dcterms:W3CDTF">2026-07-27T19:53:18Z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8ffd77-76e6-4aa7-af3e-68fc1d33ebb3_Enabled">
    <vt:lpwstr>true</vt:lpwstr>
  </property>
  <property fmtid="{D5CDD505-2E9C-101B-9397-08002B2CF9AE}" pid="3" name="MSIP_Label_a68ffd77-76e6-4aa7-af3e-68fc1d33ebb3_SetDate">
    <vt:lpwstr>2026-07-27T19:53:17Z</vt:lpwstr>
  </property>
  <property fmtid="{D5CDD505-2E9C-101B-9397-08002B2CF9AE}" pid="4" name="MSIP_Label_a68ffd77-76e6-4aa7-af3e-68fc1d33ebb3_Method">
    <vt:lpwstr>Privileged</vt:lpwstr>
  </property>
  <property fmtid="{D5CDD505-2E9C-101B-9397-08002B2CF9AE}" pid="5" name="MSIP_Label_a68ffd77-76e6-4aa7-af3e-68fc1d33ebb3_Name">
    <vt:lpwstr>Public</vt:lpwstr>
  </property>
  <property fmtid="{D5CDD505-2E9C-101B-9397-08002B2CF9AE}" pid="6" name="MSIP_Label_a68ffd77-76e6-4aa7-af3e-68fc1d33ebb3_SiteId">
    <vt:lpwstr>fb2ed1d0-f264-4319-8be8-b7af813d8dbd</vt:lpwstr>
  </property>
  <property fmtid="{D5CDD505-2E9C-101B-9397-08002B2CF9AE}" pid="7" name="MSIP_Label_a68ffd77-76e6-4aa7-af3e-68fc1d33ebb3_ActionId">
    <vt:lpwstr>f73b5ce3-c807-4704-91ec-00c00d2f7def</vt:lpwstr>
  </property>
  <property fmtid="{D5CDD505-2E9C-101B-9397-08002B2CF9AE}" pid="8" name="MSIP_Label_a68ffd77-76e6-4aa7-af3e-68fc1d33ebb3_ContentBits">
    <vt:lpwstr>2</vt:lpwstr>
  </property>
  <property fmtid="{D5CDD505-2E9C-101B-9397-08002B2CF9AE}" pid="9" name="MSIP_Label_a68ffd77-76e6-4aa7-af3e-68fc1d33ebb3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Public</vt:lpwstr>
  </property>
</Properties>
</file>